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E8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7A8C"/>
                </a:solidFill>
                <a:latin typeface="Malgun Gothic"/>
              </a:rPr>
              <a:t>오션테크(OceanTech) 디지털 자산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algun Gothic"/>
              </a:rPr>
              <a:t>NAS 전수 스캔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8D6DF"/>
                </a:solidFill>
                <a:latin typeface="Malgun Gothic"/>
              </a:rPr>
              <a:t>회사 전체 디지털 자료를 빠짐없이 분석하고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C8D6DF"/>
                </a:solidFill>
                <a:latin typeface="Malgun Gothic"/>
              </a:rPr>
              <a:t>AI 지식 검색(RAG) 도입을 위한 청사진을 그렸습니다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B73"/>
                </a:solidFill>
                <a:latin typeface="Malgun Gothic"/>
              </a:rPr>
              <a:t>2026년 5월 26일  ·  소스: NAS(192.168.0.220) 45.4TB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843A"/>
                </a:solidFill>
                <a:latin typeface="Malgun Gothic"/>
              </a:rPr>
              <a:t>SCALE  ·  규모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한눈에 보는 규모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0240"/>
            <a:ext cx="3566160" cy="28346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20240"/>
            <a:ext cx="3566160" cy="12801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423160"/>
            <a:ext cx="3566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0A2A43"/>
                </a:solidFill>
                <a:latin typeface="Malgun Gothic"/>
              </a:rPr>
              <a:t>8,040,781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7033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7A8C"/>
                </a:solidFill>
                <a:latin typeface="Malgun Gothic"/>
              </a:rPr>
              <a:t>총 파일 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605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B73"/>
                </a:solidFill>
                <a:latin typeface="Malgun Gothic"/>
              </a:rPr>
              <a:t>약 804만 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3128" y="1920240"/>
            <a:ext cx="3566160" cy="28346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1920240"/>
            <a:ext cx="3566160" cy="12801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423160"/>
            <a:ext cx="3566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0A2A43"/>
                </a:solidFill>
                <a:latin typeface="Malgun Gothic"/>
              </a:rPr>
              <a:t>30.4 TB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7033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7A8C"/>
                </a:solidFill>
                <a:latin typeface="Malgun Gothic"/>
              </a:rPr>
              <a:t>총 용량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41605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B73"/>
                </a:solidFill>
                <a:latin typeface="Malgun Gothic"/>
              </a:rPr>
              <a:t>NAS 45.4TB 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9327" y="1920240"/>
            <a:ext cx="3566160" cy="28346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9327" y="1920240"/>
            <a:ext cx="3566160" cy="12801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423160"/>
            <a:ext cx="3566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0A2A43"/>
                </a:solidFill>
                <a:latin typeface="Malgun Gothic"/>
              </a:rPr>
              <a:t>17종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7033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7A8C"/>
                </a:solidFill>
                <a:latin typeface="Malgun Gothic"/>
              </a:rPr>
              <a:t>자동 분류 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41605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B73"/>
                </a:solidFill>
                <a:latin typeface="Malgun Gothic"/>
              </a:rPr>
              <a:t>처리 경로별 정리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206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A6B73"/>
                </a:solidFill>
                <a:latin typeface="Malgun Gothic"/>
              </a:rPr>
              <a:t>회사가 20여 년간 쌓아온 모든 디지털 자료를 한 건도 빠뜨리지 않고 스캔했습니다.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A6B73"/>
                </a:solidFill>
                <a:latin typeface="Malgun Gothic"/>
              </a:rPr>
              <a:t>단순 파일 목록이 아니라, 내용·중복·업무 맥락까지 분석한 "자산 카탈로그"입니다.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3"/>
                </a:solidFill>
                <a:latin typeface="Malgun Gothic"/>
              </a:rPr>
              <a:t>오션테크 · NAS 디지털 자산 전수 스캔 결과 (2026-05-26)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843A"/>
                </a:solidFill>
                <a:latin typeface="Malgun Gothic"/>
              </a:rPr>
              <a:t>WHAT  ·  자료 종류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무엇이 들어있나 — 자료 종류별 용량</a:t>
            </a:r>
          </a:p>
        </p:txBody>
      </p:sp>
      <p:pic>
        <p:nvPicPr>
          <p:cNvPr id="6" name="Picture 5" descr="01-asset-by-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4356"/>
            <a:ext cx="7863840" cy="42893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463040"/>
            <a:ext cx="3200400" cy="4572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691640"/>
            <a:ext cx="2743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읽어보면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• 영상(mp4·avi) 이 용량 1위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   — 현장·관측 영상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• 사진(jpg) 258만 장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   — 장비·현장 기록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• 문서(txt·csv·hwp·pdf)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   — AI가 읽을 핵심 자료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• 계측 raw(dat) 130만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   — 관측 원천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3"/>
                </a:solidFill>
                <a:latin typeface="Malgun Gothic"/>
              </a:rPr>
              <a:t>오션테크 · NAS 디지털 자산 전수 스캔 결과 (2026-05-26)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843A"/>
                </a:solidFill>
                <a:latin typeface="Malgun Gothic"/>
              </a:rPr>
              <a:t>WHO  ·  부서·기관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누가 무엇을 쌓았나 — 부서·기관별 보유량</a:t>
            </a:r>
          </a:p>
        </p:txBody>
      </p:sp>
      <p:pic>
        <p:nvPicPr>
          <p:cNvPr id="6" name="Picture 5" descr="02-asset-by-top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1803"/>
            <a:ext cx="7863840" cy="35744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463040"/>
            <a:ext cx="3200400" cy="4572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691640"/>
            <a:ext cx="2743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핵심 고객·사업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• 국립해양조사원(KHOA)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   해양관측부이 유지관리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   — 최대 자산군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• 사업팀·기술팀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   팀 단위 축적 자료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• 기상청·수자원공사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   해양과학기술원 등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공공 해양관측 사업이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자산의 중심축입니다.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3"/>
                </a:solidFill>
                <a:latin typeface="Malgun Gothic"/>
              </a:rPr>
              <a:t>오션테크 · NAS 디지털 자산 전수 스캔 결과 (2026-05-26)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843A"/>
                </a:solidFill>
                <a:latin typeface="Malgun Gothic"/>
              </a:rPr>
              <a:t>WHEN  ·  시기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언제 만들어졌나 — 회사 활동 패턴</a:t>
            </a:r>
          </a:p>
        </p:txBody>
      </p:sp>
      <p:pic>
        <p:nvPicPr>
          <p:cNvPr id="6" name="Picture 5" descr="03-activity-by-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5439"/>
            <a:ext cx="7315200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0" y="155448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A43"/>
                </a:solidFill>
                <a:latin typeface="Malgun Gothic"/>
              </a:rPr>
              <a:t>시기별 분포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2057400"/>
            <a:ext cx="109728" cy="566928"/>
          </a:xfrm>
          <a:prstGeom prst="rect">
            <a:avLst/>
          </a:prstGeom>
          <a:solidFill>
            <a:srgbClr val="E8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5740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A43"/>
                </a:solidFill>
                <a:latin typeface="Malgun Gothic"/>
              </a:rPr>
              <a:t>최근 1년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05740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45만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2057400"/>
            <a:ext cx="1188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Hot — 우선 인덱싱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697480"/>
            <a:ext cx="109728" cy="56692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69748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A43"/>
                </a:solidFill>
                <a:latin typeface="Malgun Gothic"/>
              </a:rPr>
              <a:t>1~2년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69748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64만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2697480"/>
            <a:ext cx="1188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Warm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3337560"/>
            <a:ext cx="109728" cy="56692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33756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A43"/>
                </a:solidFill>
                <a:latin typeface="Malgun Gothic"/>
              </a:rPr>
              <a:t>2~5년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33756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230만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3337560"/>
            <a:ext cx="1188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Active archive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3977640"/>
            <a:ext cx="109728" cy="566928"/>
          </a:xfrm>
          <a:prstGeom prst="rect">
            <a:avLst/>
          </a:prstGeom>
          <a:solidFill>
            <a:srgbClr val="5A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97764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A43"/>
                </a:solidFill>
                <a:latin typeface="Malgun Gothic"/>
              </a:rPr>
              <a:t>5~10년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97764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261만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3977640"/>
            <a:ext cx="1188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Cold archive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4617720"/>
            <a:ext cx="109728" cy="566928"/>
          </a:xfrm>
          <a:prstGeom prst="rect">
            <a:avLst/>
          </a:prstGeom>
          <a:solidFill>
            <a:srgbClr val="5A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61772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A43"/>
                </a:solidFill>
                <a:latin typeface="Malgun Gothic"/>
              </a:rPr>
              <a:t>10년+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61772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204만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4617720"/>
            <a:ext cx="1188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보존 자산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3"/>
                </a:solidFill>
                <a:latin typeface="Malgun Gothic"/>
              </a:rPr>
              <a:t>오션테크 · NAS 디지털 자산 전수 스캔 결과 (2026-05-26)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843A"/>
                </a:solidFill>
                <a:latin typeface="Malgun Gothic"/>
              </a:rPr>
              <a:t>READY  ·  RAG 준비도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AI가 바로 읽을 수 있는 자료</a:t>
            </a:r>
          </a:p>
        </p:txBody>
      </p:sp>
      <p:pic>
        <p:nvPicPr>
          <p:cNvPr id="6" name="Picture 5" descr="06-rag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2866"/>
            <a:ext cx="7863840" cy="44323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49640" y="1463040"/>
            <a:ext cx="3200400" cy="19202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2763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즉시 인덱싱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57400"/>
            <a:ext cx="2834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algun Gothic"/>
              </a:rPr>
              <a:t>약 140만 파일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8803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6E7EC"/>
                </a:solidFill>
                <a:latin typeface="Malgun Gothic"/>
              </a:rPr>
              <a:t>Q1 PDF + Q2 HWP + Q3 일반문서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11880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A2A43"/>
                </a:solidFill>
                <a:latin typeface="Malgun Gothic"/>
              </a:rPr>
              <a:t>• 자료를 처리 경로별로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A2A43"/>
                </a:solidFill>
                <a:latin typeface="Malgun Gothic"/>
              </a:rPr>
              <a:t>  자동 분류 (17종)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A2A43"/>
                </a:solidFill>
                <a:latin typeface="Malgun Gothic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A2A43"/>
                </a:solidFill>
                <a:latin typeface="Malgun Gothic"/>
              </a:rPr>
              <a:t>• Q = AI가 읽을 수 있는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A2A43"/>
                </a:solidFill>
                <a:latin typeface="Malgun Gothic"/>
              </a:rPr>
              <a:t>  문서·텍스트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A2A43"/>
                </a:solidFill>
                <a:latin typeface="Malgun Gothic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A2A43"/>
                </a:solidFill>
                <a:latin typeface="Malgun Gothic"/>
              </a:rPr>
              <a:t>• X = 영상·계측raw·백업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A2A43"/>
                </a:solidFill>
                <a:latin typeface="Malgun Gothic"/>
              </a:rPr>
              <a:t>  (검색 대상 아님,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A2A43"/>
                </a:solidFill>
                <a:latin typeface="Malgun Gothic"/>
              </a:rPr>
              <a:t>   메타데이터만)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A2A43"/>
                </a:solidFill>
                <a:latin typeface="Malgun Gothic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A2A43"/>
                </a:solidFill>
                <a:latin typeface="Malgun Gothic"/>
              </a:rPr>
              <a:t>• 스캔 PDF 5.9만 건은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0A2A43"/>
                </a:solidFill>
                <a:latin typeface="Malgun Gothic"/>
              </a:rPr>
              <a:t>  무료 OCR 후 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3"/>
                </a:solidFill>
                <a:latin typeface="Malgun Gothic"/>
              </a:rPr>
              <a:t>오션테크 · NAS 디지털 자산 전수 스캔 결과 (2026-05-26)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843A"/>
                </a:solidFill>
                <a:latin typeface="Malgun Gothic"/>
              </a:rPr>
              <a:t>★ INSIGHT  ·  핵심 통찰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반복되는 자료 = 반복 업무의 발자국</a:t>
            </a:r>
          </a:p>
        </p:txBody>
      </p:sp>
      <p:pic>
        <p:nvPicPr>
          <p:cNvPr id="6" name="Picture 5" descr="07-context-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66" y="1325880"/>
            <a:ext cx="6936827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074920"/>
            <a:ext cx="11292840" cy="1234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1663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같은 자료가 여러 폴더에서 반복 등장한다는 것은 "중요해서"가 아니라 직원들이 같은 업무를 할 때마다 그 자료를 첨부·참조하기 때문입니다.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→ 이 반복 패턴이 곧 ERP·지식플랫폼 업무 자동화 후보입니다. 반대로 진짜 핵심 산출물(raw 데이터·최종보고서)은 '유일 자료' 32.6만 건에 묻혀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3"/>
                </a:solidFill>
                <a:latin typeface="Malgun Gothic"/>
              </a:rPr>
              <a:t>오션테크 · NAS 디지털 자산 전수 스캔 결과 (2026-05-26)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843A"/>
                </a:solidFill>
                <a:latin typeface="Malgun Gothic"/>
              </a:rPr>
              <a:t>★ CASE  ·  실제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실제 사례 — 선박 특별검사 서류 반복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A6B73"/>
                </a:solidFill>
                <a:latin typeface="Malgun Gothic"/>
              </a:rPr>
              <a:t>오션테크는 해양 조사 시 일반 어선을 임대해 작업선으로 용도 변경합니다(선박 특별검사 신청).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5A6B73"/>
                </a:solidFill>
                <a:latin typeface="Malgun Gothic"/>
              </a:rPr>
              <a:t>그때마다 같은 선박서류를 매번 찾아 첨부 — 가장 뚜렷한 반복 업무 발자국입니다.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286000"/>
          <a:ext cx="6949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선박명</a:t>
                      </a:r>
                    </a:p>
                  </a:txBody>
                  <a:tcPr>
                    <a:solidFill>
                      <a:srgbClr val="0A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반복 등장</a:t>
                      </a:r>
                    </a:p>
                  </a:txBody>
                  <a:tcPr>
                    <a:solidFill>
                      <a:srgbClr val="0A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사용 부서·기관</a:t>
                      </a:r>
                    </a:p>
                  </a:txBody>
                  <a:tcPr>
                    <a:solidFill>
                      <a:srgbClr val="0A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성격</a:t>
                      </a:r>
                    </a:p>
                  </a:txBody>
                  <a:tcPr>
                    <a:solidFill>
                      <a:srgbClr val="0A2A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A43"/>
                          </a:solidFill>
                          <a:latin typeface="Malgun Gothic"/>
                        </a:rPr>
                        <a:t>만성호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A43"/>
                          </a:solidFill>
                          <a:latin typeface="Malgun Gothic"/>
                        </a:rPr>
                        <a:t>229 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A43"/>
                          </a:solidFill>
                          <a:latin typeface="Malgun Gothic"/>
                        </a:rPr>
                        <a:t>13 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A43"/>
                          </a:solidFill>
                          <a:latin typeface="Malgun Gothic"/>
                        </a:rPr>
                        <a:t>★ 회사 주력 작업선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A43"/>
                          </a:solidFill>
                          <a:latin typeface="Malgun Gothic"/>
                        </a:rPr>
                        <a:t>일진호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A43"/>
                          </a:solidFill>
                          <a:latin typeface="Malgun Gothic"/>
                        </a:rPr>
                        <a:t>178 회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A43"/>
                          </a:solidFill>
                          <a:latin typeface="Malgun Gothic"/>
                        </a:rPr>
                        <a:t>11 곳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A43"/>
                          </a:solidFill>
                          <a:latin typeface="Malgun Gothic"/>
                        </a:rPr>
                        <a:t>주력 작업선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A43"/>
                          </a:solidFill>
                          <a:latin typeface="Malgun Gothic"/>
                        </a:rPr>
                        <a:t>씨로드호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A43"/>
                          </a:solidFill>
                          <a:latin typeface="Malgun Gothic"/>
                        </a:rPr>
                        <a:t>85 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A43"/>
                          </a:solidFill>
                          <a:latin typeface="Malgun Gothic"/>
                        </a:rPr>
                        <a:t>12 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A43"/>
                          </a:solidFill>
                          <a:latin typeface="Malgun Gothic"/>
                        </a:rPr>
                        <a:t>주력 작업선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A43"/>
                          </a:solidFill>
                          <a:latin typeface="Malgun Gothic"/>
                        </a:rPr>
                        <a:t>은하호·스피드호·럭키2호·동진호 등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A43"/>
                          </a:solidFill>
                          <a:latin typeface="Malgun Gothic"/>
                        </a:rPr>
                        <a:t>기타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A43"/>
                          </a:solidFill>
                          <a:latin typeface="Malgun Gothic"/>
                        </a:rPr>
                        <a:t>다수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A43"/>
                          </a:solidFill>
                          <a:latin typeface="Malgun Gothic"/>
                        </a:rPr>
                        <a:t>프로젝트별 임대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0" y="2286000"/>
            <a:ext cx="3977639" cy="23774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231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자동화 후보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88036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Malgun Gothic"/>
              </a:rPr>
              <a:t>ERP에 '선박 자산 마스터'를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Malgun Gothic"/>
              </a:rPr>
              <a:t>만들고 선박별 표준 서류를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Malgun Gothic"/>
              </a:rPr>
              <a:t>묶어두면,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Malgun Gothic"/>
              </a:rPr>
              <a:t>프로젝트에서 "작업선: 만성호"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Malgun Gothic"/>
              </a:rPr>
              <a:t>선택 시 최신 선적증서·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Malgun Gothic"/>
              </a:rPr>
              <a:t>어선검사증서가 자동 첨부.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Malgun Gothic"/>
              </a:rPr>
              <a:t>검사증서 연차 갱신도 자동 관리.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3776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6B73"/>
                </a:solidFill>
                <a:latin typeface="Malgun Gothic"/>
              </a:rPr>
              <a:t>이런 반복 업무 후보를 데이터로 발견했습니다 — 행정서류(선적·검사증서) 3,148건, 양식 HWP 1,017건, 표준 사진 1.5만 장.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6B73"/>
                </a:solidFill>
                <a:latin typeface="Malgun Gothic"/>
              </a:rPr>
              <a:t>직원의 반복 검색·첨부 시간을 줄이고 누락을 방지하는 가장 빠른 자동화 지점입니다.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3"/>
                </a:solidFill>
                <a:latin typeface="Malgun Gothic"/>
              </a:rPr>
              <a:t>오션테크 · NAS 디지털 자산 전수 스캔 결과 (2026-05-26)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843A"/>
                </a:solidFill>
                <a:latin typeface="Malgun Gothic"/>
              </a:rPr>
              <a:t>VALUE  · 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이걸로 무엇을 할 수 있나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841248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A2A43"/>
                </a:solidFill>
                <a:latin typeface="Malgun Gothic"/>
              </a:rPr>
              <a:t>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81912"/>
            <a:ext cx="3291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7A8C"/>
                </a:solidFill>
                <a:latin typeface="Malgun Gothic"/>
              </a:rPr>
              <a:t>전사 지식 검색(RAG)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581912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20년치 문서를 자연어로 질문 — "○○사업 계약 조건?" 즉시 응답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59736"/>
            <a:ext cx="11064240" cy="841248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59736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A2A43"/>
                </a:solidFill>
                <a:latin typeface="Malgun Gothic"/>
              </a:rPr>
              <a:t>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32888"/>
            <a:ext cx="3291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7A8C"/>
                </a:solidFill>
                <a:latin typeface="Malgun Gothic"/>
              </a:rPr>
              <a:t>ERP 자동 첨부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532888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발주·계약·납품 시 선박서류·양식을 자동 첨부 (반복 검색 시간 절감)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10712"/>
            <a:ext cx="11064240" cy="841248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10712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A2A43"/>
                </a:solidFill>
                <a:latin typeface="Malgun Gothic"/>
              </a:rPr>
              <a:t>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83864"/>
            <a:ext cx="3291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7A8C"/>
                </a:solidFill>
                <a:latin typeface="Malgun Gothic"/>
              </a:rPr>
              <a:t>표준 서류 중앙관리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483864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회사 표준 양식·증서를 한 곳에서 버전 통제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61688"/>
            <a:ext cx="11064240" cy="841248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61688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A2A43"/>
                </a:solidFill>
                <a:latin typeface="Malgun Gothic"/>
              </a:rPr>
              <a:t>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91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7A8C"/>
                </a:solidFill>
                <a:latin typeface="Malgun Gothic"/>
              </a:rPr>
              <a:t>신입 온보딩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434840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"이 업무엔 이 자료가 필요" 자동 안내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12664"/>
            <a:ext cx="11064240" cy="841248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12664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A2A43"/>
                </a:solidFill>
                <a:latin typeface="Malgun Gothic"/>
              </a:rP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85816"/>
            <a:ext cx="3291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7A8C"/>
                </a:solidFill>
                <a:latin typeface="Malgun Gothic"/>
              </a:rPr>
              <a:t>업무 흐름 역추적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385816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A2A43"/>
                </a:solidFill>
                <a:latin typeface="Malgun Gothic"/>
              </a:rPr>
              <a:t>자료 분포로 어떤 업무가 어떤 자료를 요구하는지 발견 → 자동화 우선순위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3"/>
                </a:solidFill>
                <a:latin typeface="Malgun Gothic"/>
              </a:rPr>
              <a:t>오션테크 · NAS 디지털 자산 전수 스캔 결과 (2026-05-26)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843A"/>
                </a:solidFill>
                <a:latin typeface="Malgun Gothic"/>
              </a:rPr>
              <a:t>NEXT  · 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다음 단계 — NAS 지식검색(RAG) 도입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2697480" cy="310896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2697480" cy="8229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8892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2A43"/>
                </a:solidFill>
                <a:latin typeface="Malgun Gothic"/>
              </a:rPr>
              <a:t>인덱싱 큐 검토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2044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A6B73"/>
                </a:solidFill>
                <a:latin typeface="Malgun Gothic"/>
              </a:rPr>
              <a:t>즉시 처리 가능한 140만 문서 목록 확정 (Q1·Q2·Q3 CSV 준비 완료)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2697480" cy="310896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2697480" cy="8229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8892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2A43"/>
                </a:solidFill>
                <a:latin typeface="Malgun Gothic"/>
              </a:rPr>
              <a:t>Hot tier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2044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A6B73"/>
                </a:solidFill>
                <a:latin typeface="Malgun Gothic"/>
              </a:rPr>
              <a:t>어느 기간·부서를 먼저 검색에 올릴지 선택 (최근 1년 우선 권장)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1828800"/>
            <a:ext cx="2697480" cy="310896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1072" y="1828800"/>
            <a:ext cx="2697480" cy="8229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92024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78892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2A43"/>
                </a:solidFill>
                <a:latin typeface="Malgun Gothic"/>
              </a:rPr>
              <a:t>RAG 시범(PoC)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52044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A6B73"/>
                </a:solidFill>
                <a:latin typeface="Malgun Gothic"/>
              </a:rPr>
              <a:t>별도 벡터DB + 무료 OCR로 1주 시범 → 검색 품질 평가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53144" y="1828800"/>
            <a:ext cx="2697480" cy="310896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53144" y="1828800"/>
            <a:ext cx="2697480" cy="8229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192024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78892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2A43"/>
                </a:solidFill>
                <a:latin typeface="Malgun Gothic"/>
              </a:rPr>
              <a:t>지식플랫폼 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352044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A6B73"/>
                </a:solidFill>
                <a:latin typeface="Malgun Gothic"/>
              </a:rPr>
              <a:t>ERP 연동 + 반복업무 자동화 (선박·계약서 등) 단계 도입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212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A43"/>
                </a:solidFill>
                <a:latin typeface="Malgun Gothic"/>
              </a:rPr>
              <a:t>스캔·분석은 완료됐습니다. 이제 "무엇부터 검색에 올릴지"만 정하면 시범 도입을 시작할 수 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73"/>
                </a:solidFill>
                <a:latin typeface="Malgun Gothic"/>
              </a:rPr>
              <a:t>오션테크 · NAS 디지털 자산 전수 스캔 결과 (2026-05-26)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73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